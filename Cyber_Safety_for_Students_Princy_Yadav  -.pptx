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5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67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 Welcome everyone. This presentation explains practical cyber-safety habits students can use every day while studying, communicating and browsing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 Emphasize that urgency is a common social-engineering technique. Students should verify requests independently and never share passwords or one-time passwords.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 Ask students what they would do at each step. The key habit is to stop and verify through an independent, trusted channel rather than using the link in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 Recap the five core habits: stop, check, protect, think and report. Invite students to choose one habit they will start using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92863/free-photo-image-security-fraud-hacke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askleo.com/online-and-phone-scams-what-to-watch-for-and-how-to-stay-saf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oxifier.blogspot.com/2013/07/guidelines-for-securing-operating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mericandrycleaner.com/articles/building-drycleaning-business-runs-without-you-conclusion" TargetMode="Externa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1143000"/>
            <a:ext cx="3371244" cy="126188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BFD"/>
                </a:solidFill>
              </a:defRPr>
            </a:pPr>
            <a:r>
              <a:rPr dirty="0"/>
              <a:t>CYBER SAFETY</a:t>
            </a:r>
          </a:p>
          <a:p>
            <a:pPr>
              <a:defRPr sz="3400" b="1">
                <a:solidFill>
                  <a:srgbClr val="31B1C4"/>
                </a:solidFill>
              </a:defRPr>
            </a:pPr>
            <a:r>
              <a:rPr dirty="0"/>
              <a:t>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18369-FF4F-A238-29D6-C67420B8CFDA}"/>
              </a:ext>
            </a:extLst>
          </p:cNvPr>
          <p:cNvSpPr txBox="1"/>
          <p:nvPr/>
        </p:nvSpPr>
        <p:spPr>
          <a:xfrm>
            <a:off x="1387366" y="4120055"/>
            <a:ext cx="3605048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C8DCE6"/>
                </a:solidFill>
              </a:defRPr>
            </a:pPr>
            <a:r>
              <a:rPr lang="en-IN"/>
              <a:t>Stay smart • Stay private • Stay safe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116CE-6E1C-F7CF-DB8A-4F5ECA74E613}"/>
              </a:ext>
            </a:extLst>
          </p:cNvPr>
          <p:cNvSpPr txBox="1"/>
          <p:nvPr/>
        </p:nvSpPr>
        <p:spPr>
          <a:xfrm>
            <a:off x="8261132" y="4960883"/>
            <a:ext cx="2896400" cy="120032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Name-Princy Yadav</a:t>
            </a:r>
          </a:p>
          <a:p>
            <a:r>
              <a:rPr lang="en-US" b="1" dirty="0">
                <a:solidFill>
                  <a:schemeClr val="bg1"/>
                </a:solidFill>
              </a:rPr>
              <a:t>Trade-AIPA</a:t>
            </a:r>
          </a:p>
          <a:p>
            <a:r>
              <a:rPr lang="en-US" b="1" dirty="0">
                <a:solidFill>
                  <a:schemeClr val="bg1"/>
                </a:solidFill>
              </a:rPr>
              <a:t>Institute-NSTI(W)</a:t>
            </a:r>
          </a:p>
          <a:p>
            <a:r>
              <a:rPr lang="en-US" b="1" dirty="0">
                <a:solidFill>
                  <a:schemeClr val="bg1"/>
                </a:solidFill>
              </a:rPr>
              <a:t>Date- 29/09/2026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73B0B-8F79-A8FB-7D9A-F4699C0C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35" y="4566267"/>
            <a:ext cx="2659118" cy="159494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BBDCDE-8243-7C2F-6D7B-58B0D184F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986" y="38742"/>
            <a:ext cx="7126014" cy="4732284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523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2856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  <a:defRPr sz="1200">
                <a:solidFill>
                  <a:srgbClr val="BED7E1"/>
                </a:solidFill>
              </a:defRPr>
            </a:pPr>
            <a:r>
              <a:rPr b="1" dirty="0"/>
              <a:t>Why cyber safety matters for students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6" name="Rounded Rectangle 5"/>
          <p:cNvSpPr/>
          <p:nvPr/>
        </p:nvSpPr>
        <p:spPr>
          <a:xfrm>
            <a:off x="97221" y="1677924"/>
            <a:ext cx="7223760" cy="114300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6812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What is cyber safety?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961" y="2203704"/>
            <a:ext cx="6812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Using devices, accounts and the internet in ways that protect your information, privacy and digital identity.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3383280" cy="141732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Protect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Personal data, passwords and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971800"/>
            <a:ext cx="3566160" cy="141732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136392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Think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30168"/>
            <a:ext cx="3154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Check before clicking, sharing or downloading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17720"/>
            <a:ext cx="7223760" cy="109728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82312"/>
            <a:ext cx="6812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76088"/>
            <a:ext cx="6812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Online actions can affect your privacy, reputation and security.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D355A76-5020-99CC-408C-79521F113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01000" y="510539"/>
            <a:ext cx="4191000" cy="37097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5166360" cy="523220"/>
          </a:xfrm>
          <a:prstGeom prst="rect">
            <a:avLst/>
          </a:prstGeom>
          <a:solidFill>
            <a:schemeClr val="tx2">
              <a:lumMod val="5000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rPr dirty="0"/>
              <a:t>2. Common Cyber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25824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lang="en-IN" b="1" dirty="0"/>
              <a:t>Recognize common warning signs :</a:t>
            </a:r>
            <a:endParaRPr b="1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66360" cy="1645920"/>
          </a:xfrm>
          <a:prstGeom prst="roundRect">
            <a:avLst/>
          </a:prstGeom>
          <a:solidFill>
            <a:srgbClr val="19344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754880" cy="411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Fake messages or websites designed to steal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166360" cy="1645920"/>
          </a:xfrm>
          <a:prstGeom prst="roundRect">
            <a:avLst/>
          </a:prstGeom>
          <a:solidFill>
            <a:srgbClr val="19344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105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Malware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04288"/>
            <a:ext cx="4754880" cy="868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Harmful software such as viruses or spyware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" y="3831335"/>
            <a:ext cx="4754880" cy="411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Account hacking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436168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rPr dirty="0"/>
              <a:t>Unauthorized access using stolen or guessed 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166360" cy="1645920"/>
          </a:xfrm>
          <a:prstGeom prst="roundRect">
            <a:avLst/>
          </a:prstGeom>
          <a:solidFill>
            <a:srgbClr val="19344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9380" y="3831335"/>
            <a:ext cx="4754880" cy="411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Cyberbullying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6168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Harassment, threats or humiliation through digital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BB03C1-308F-ECDF-77BA-ABDC3CE38A8D}"/>
              </a:ext>
            </a:extLst>
          </p:cNvPr>
          <p:cNvSpPr/>
          <p:nvPr/>
        </p:nvSpPr>
        <p:spPr>
          <a:xfrm>
            <a:off x="868679" y="3703321"/>
            <a:ext cx="5059681" cy="164592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0" fill="hold">
                <p:stCondLst>
                  <p:cond delay="0"/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228371" cy="523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rPr dirty="0"/>
              <a:t>3. Phishing &amp; Online Scams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21208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sz="1400" b="1" dirty="0"/>
              <a:t>Pause before you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210" y="2304288"/>
            <a:ext cx="5679790" cy="2821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Urgent messages: “Act now” or “Your account will be closed.”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Unexpected links, attachments or login requests.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Requests for OTPs, passwords, PINs or personal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Misspelled domains or suspicious sender addresses.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Verify through the official app or website instead of the message link.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8213C6-5348-BB54-F5B6-AAD32A2A0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30509" y="1089204"/>
            <a:ext cx="4477407" cy="28212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B38D5A-5A11-118E-FE0F-A42151E5FF0E}"/>
              </a:ext>
            </a:extLst>
          </p:cNvPr>
          <p:cNvSpPr txBox="1"/>
          <p:nvPr/>
        </p:nvSpPr>
        <p:spPr>
          <a:xfrm>
            <a:off x="0" y="6629400"/>
            <a:ext cx="6821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askleo.com/online-and-phone-scams-what-to-watch-for-and-how-to-stay-saf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-nd/3.0/"/>
              </a:rPr>
              <a:t>CC BY-NC-ND</a:t>
            </a:r>
            <a:endParaRPr lang="en-IN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5028674" cy="523220"/>
          </a:xfrm>
          <a:prstGeom prst="rect">
            <a:avLst/>
          </a:prstGeom>
          <a:solidFill>
            <a:schemeClr val="tx2">
              <a:lumMod val="5000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t>4. Password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27469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sz="1400" b="1" dirty="0"/>
              <a:t>Make account takeover harder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7132320" cy="105156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051560"/>
          </a:xfrm>
          <a:prstGeom prst="rect">
            <a:avLst/>
          </a:prstGeom>
          <a:solidFill>
            <a:srgbClr val="31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Use strong, unique passwords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67208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Avoid names, birthdays and predictable patterns. Do not reuse the same password across important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3429000" cy="141732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73152" cy="1417320"/>
          </a:xfrm>
          <a:prstGeom prst="rect">
            <a:avLst/>
          </a:prstGeom>
          <a:solidFill>
            <a:srgbClr val="3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Longer is stronger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Use a memorable passphrase or a long 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80360"/>
            <a:ext cx="3429000" cy="141732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880360"/>
            <a:ext cx="73152" cy="14173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30449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Enable MFA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5387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t>Use multi-factor authentication where 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72000"/>
            <a:ext cx="7132320" cy="105156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572000"/>
            <a:ext cx="73152" cy="1051560"/>
          </a:xfrm>
          <a:prstGeom prst="rect">
            <a:avLst/>
          </a:prstGeom>
          <a:solidFill>
            <a:srgbClr val="C3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Never share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68758"/>
            <a:ext cx="6720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rPr dirty="0"/>
              <a:t>Keep passwords, PINs and verification codes private—even if a message claims to be from</a:t>
            </a:r>
            <a:r>
              <a:rPr lang="en-US" dirty="0"/>
              <a:t> support.</a:t>
            </a:r>
            <a:r>
              <a:rPr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EAC0492-2253-B3BB-9F6D-90AB869B8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73568" y="760621"/>
            <a:ext cx="3933825" cy="1933575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F5E008D-C26F-9337-4D52-D17C3289CFF2}"/>
              </a:ext>
            </a:extLst>
          </p:cNvPr>
          <p:cNvSpPr txBox="1"/>
          <p:nvPr/>
        </p:nvSpPr>
        <p:spPr>
          <a:xfrm>
            <a:off x="7973568" y="2694197"/>
            <a:ext cx="3933825" cy="23083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endParaRPr lang="en-IN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711847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t>5. Social Media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22062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sz="1400" b="1" dirty="0"/>
              <a:t>Control what you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920011" cy="25442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Review privacy settings and who can see your posts.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Think before posting personal details, live location or school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Accept requests only from people you know or can verify.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Block and report abusive or suspicious accounts.</a:t>
            </a:r>
          </a:p>
          <a:p>
            <a:pPr>
              <a:spcAft>
                <a:spcPts val="1000"/>
              </a:spcAft>
              <a:defRPr sz="1800">
                <a:solidFill>
                  <a:srgbClr val="F8FBFD"/>
                </a:solidFill>
                <a:latin typeface="Aptos"/>
              </a:defRPr>
            </a:pPr>
            <a:r>
              <a:rPr dirty="0"/>
              <a:t>• Remember: screenshots and reposts can make information hard to take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AE22A-CADC-D6CF-4FB6-8DBC75F8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18463"/>
            <a:ext cx="4419600" cy="4939337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5" fill="hold">
                <p:stCondLst>
                  <p:cond delay="0"/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set>
                          <p:cBhvr>
                            <p:cTn id="17" dur="1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690826" cy="5232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t>6. Safe Internet Browsing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4261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sz="1400" b="1" dirty="0"/>
              <a:t>Use a simple check before downloading or logging 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319619"/>
              </p:ext>
            </p:extLst>
          </p:nvPr>
        </p:nvGraphicFramePr>
        <p:xfrm>
          <a:off x="84083" y="1600199"/>
          <a:ext cx="6842235" cy="451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33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lang="en-US" sz="1600" b="1" dirty="0"/>
                        <a:t>   </a:t>
                      </a:r>
                      <a:r>
                        <a:rPr sz="1600" b="1" dirty="0"/>
                        <a:t>Check</a:t>
                      </a:r>
                    </a:p>
                  </a:txBody>
                  <a:tcPr>
                    <a:solidFill>
                      <a:srgbClr val="1969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sz="1600" dirty="0"/>
                        <a:t>Safer choice</a:t>
                      </a:r>
                    </a:p>
                  </a:txBody>
                  <a:tcPr>
                    <a:solidFill>
                      <a:srgbClr val="1969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sz="1600" dirty="0"/>
                        <a:t>Warning sign</a:t>
                      </a:r>
                    </a:p>
                  </a:txBody>
                  <a:tcPr>
                    <a:solidFill>
                      <a:srgbClr val="1969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3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Website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/>
                        <a:t>Type the official address yourself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/>
                        <a:t>Strange domain or misspelling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3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Download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/>
                        <a:t>Use trusted sources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Unknown file or cracked software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3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Connection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Prefer secure, trusted networks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/>
                        <a:t>Open public Wi‑Fi for sensitive tasks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36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/>
                        <a:t>Pop-ups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Close suspicious alerts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BFD"/>
                          </a:solidFill>
                          <a:latin typeface="Aptos"/>
                        </a:defRPr>
                      </a:pPr>
                      <a:r>
                        <a:rPr b="1" dirty="0"/>
                        <a:t>Fake virus warnings or prize claims</a:t>
                      </a:r>
                    </a:p>
                  </a:txBody>
                  <a:tcPr>
                    <a:solidFill>
                      <a:srgbClr val="1B3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2CBB13-4485-D08E-4072-4C0330E25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503" y="347472"/>
            <a:ext cx="5076497" cy="4692869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935599" cy="52322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rPr dirty="0"/>
              <a:t>7. Real-Life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42054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sz="1600" b="1" dirty="0"/>
              <a:t>A student receives a “scholarship” message</a:t>
            </a:r>
            <a:r>
              <a:rPr lang="en-US" sz="1600" b="1" dirty="0"/>
              <a:t>:</a:t>
            </a:r>
            <a:endParaRPr sz="16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331720" cy="1965960"/>
          </a:xfrm>
          <a:prstGeom prst="roundRect">
            <a:avLst/>
          </a:prstGeom>
          <a:solidFill>
            <a:srgbClr val="1C3B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1. Message</a:t>
            </a:r>
          </a:p>
          <a:p>
            <a:pPr algn="ctr">
              <a:defRPr sz="1200">
                <a:solidFill>
                  <a:srgbClr val="D7E6ED"/>
                </a:solidFill>
              </a:defRPr>
            </a:pPr>
            <a:r>
              <a:t>“Congratulations! Claim your scholarship now.”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53512" y="2606040"/>
            <a:ext cx="457200" cy="411480"/>
          </a:xfrm>
          <a:prstGeom prst="rightArrow">
            <a:avLst/>
          </a:prstGeom>
          <a:solidFill>
            <a:srgbClr val="31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47288" y="1920240"/>
            <a:ext cx="2331720" cy="1965960"/>
          </a:xfrm>
          <a:prstGeom prst="roundRect">
            <a:avLst/>
          </a:prstGeom>
          <a:solidFill>
            <a:srgbClr val="1C3B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2. Link</a:t>
            </a:r>
          </a:p>
          <a:p>
            <a:pPr algn="ctr">
              <a:defRPr sz="1200">
                <a:solidFill>
                  <a:srgbClr val="D7E6ED"/>
                </a:solidFill>
              </a:defRPr>
            </a:pPr>
            <a:r>
              <a:t>Student is asked to log in and enter OTP.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06440" y="2606040"/>
            <a:ext cx="457200" cy="411480"/>
          </a:xfrm>
          <a:prstGeom prst="rightArrow">
            <a:avLst/>
          </a:prstGeom>
          <a:solidFill>
            <a:srgbClr val="31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0216" y="1920240"/>
            <a:ext cx="2331720" cy="1965960"/>
          </a:xfrm>
          <a:prstGeom prst="roundRect">
            <a:avLst/>
          </a:prstGeom>
          <a:solidFill>
            <a:srgbClr val="1C3B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3. Pause</a:t>
            </a:r>
          </a:p>
          <a:p>
            <a:pPr algn="ctr">
              <a:defRPr sz="1200">
                <a:solidFill>
                  <a:srgbClr val="D7E6ED"/>
                </a:solidFill>
              </a:defRPr>
            </a:pPr>
            <a:r>
              <a:t>Student checks the sender and official scholarship site.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59368" y="2606040"/>
            <a:ext cx="457200" cy="411480"/>
          </a:xfrm>
          <a:prstGeom prst="rightArrow">
            <a:avLst/>
          </a:prstGeom>
          <a:solidFill>
            <a:srgbClr val="31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53144" y="1920240"/>
            <a:ext cx="2331720" cy="1965960"/>
          </a:xfrm>
          <a:prstGeom prst="roundRect">
            <a:avLst/>
          </a:prstGeom>
          <a:solidFill>
            <a:srgbClr val="1C3B5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4. Safe action</a:t>
            </a:r>
          </a:p>
          <a:p>
            <a:pPr algn="ctr">
              <a:defRPr sz="1200">
                <a:solidFill>
                  <a:srgbClr val="D7E6ED"/>
                </a:solidFill>
              </a:defRPr>
            </a:pPr>
            <a:r>
              <a:t>Student avoids the link and verifies independently.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389120"/>
            <a:ext cx="8138160" cy="1051560"/>
          </a:xfrm>
          <a:prstGeom prst="roundRect">
            <a:avLst/>
          </a:prstGeom>
          <a:solidFill>
            <a:srgbClr val="19344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4553712"/>
            <a:ext cx="8274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rPr dirty="0"/>
              <a:t>Lesson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047488"/>
            <a:ext cx="77266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rPr dirty="0"/>
              <a:t>Urgency + unfamiliar link + request for credentials = stop, verify and use an official channel.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997143" cy="5232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BFD"/>
                </a:solidFill>
                <a:latin typeface="Aptos Display"/>
              </a:defRPr>
            </a:pPr>
            <a:r>
              <a:rPr dirty="0"/>
              <a:t>8. Safety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678" y="1027699"/>
            <a:ext cx="30478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solidFill>
                  <a:srgbClr val="BED7E1"/>
                </a:solidFill>
              </a:defRPr>
            </a:pPr>
            <a:r>
              <a:rPr sz="1600" b="1" dirty="0"/>
              <a:t>A five-step protection routine</a:t>
            </a:r>
            <a:r>
              <a:rPr lang="en-US" sz="1600" b="1" dirty="0"/>
              <a:t>:</a:t>
            </a:r>
            <a:endParaRPr sz="1600" b="1" dirty="0"/>
          </a:p>
        </p:txBody>
      </p:sp>
      <p:sp>
        <p:nvSpPr>
          <p:cNvPr id="5" name="Oval 4"/>
          <p:cNvSpPr/>
          <p:nvPr/>
        </p:nvSpPr>
        <p:spPr>
          <a:xfrm>
            <a:off x="502920" y="1691640"/>
            <a:ext cx="1417320" cy="1417320"/>
          </a:xfrm>
          <a:prstGeom prst="ellipse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8FBFD"/>
                </a:solidFill>
              </a:defRPr>
            </a:pPr>
            <a:r>
              <a:t>Don't rush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47672" y="2176272"/>
            <a:ext cx="685800" cy="365760"/>
          </a:xfrm>
          <a:prstGeom prst="rightArrow">
            <a:avLst/>
          </a:prstGeom>
          <a:solidFill>
            <a:srgbClr val="5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07208" y="1691640"/>
            <a:ext cx="1417320" cy="1417320"/>
          </a:xfrm>
          <a:prstGeom prst="ellipse">
            <a:avLst/>
          </a:prstGeom>
          <a:solidFill>
            <a:srgbClr val="31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324612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8FBFD"/>
                </a:solidFill>
              </a:defRPr>
            </a:pPr>
            <a:r>
              <a:t>Sender + link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51960" y="2176272"/>
            <a:ext cx="685800" cy="365760"/>
          </a:xfrm>
          <a:prstGeom prst="rightArrow">
            <a:avLst/>
          </a:prstGeom>
          <a:solidFill>
            <a:srgbClr val="5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11496" y="1691640"/>
            <a:ext cx="1417320" cy="1417320"/>
          </a:xfrm>
          <a:prstGeom prst="ellipse">
            <a:avLst/>
          </a:prstGeom>
          <a:solidFill>
            <a:srgbClr val="3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324612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8FBFD"/>
                </a:solidFill>
              </a:defRPr>
            </a:pPr>
            <a:r>
              <a:t>Password + MFA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56248" y="2176272"/>
            <a:ext cx="685800" cy="365760"/>
          </a:xfrm>
          <a:prstGeom prst="rightArrow">
            <a:avLst/>
          </a:prstGeom>
          <a:solidFill>
            <a:srgbClr val="5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15784" y="1691640"/>
            <a:ext cx="1417320" cy="1417320"/>
          </a:xfrm>
          <a:prstGeom prst="ellipse">
            <a:avLst/>
          </a:prstGeom>
          <a:solidFill>
            <a:srgbClr val="19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324612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8FBFD"/>
                </a:solidFill>
              </a:defRPr>
            </a:pPr>
            <a:r>
              <a:t>Before sharing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60536" y="2176272"/>
            <a:ext cx="685800" cy="365760"/>
          </a:xfrm>
          <a:prstGeom prst="rightArrow">
            <a:avLst/>
          </a:prstGeom>
          <a:solidFill>
            <a:srgbClr val="5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20072" y="1691640"/>
            <a:ext cx="1417320" cy="1417320"/>
          </a:xfrm>
          <a:prstGeom prst="ellipse">
            <a:avLst/>
          </a:prstGeom>
          <a:solidFill>
            <a:srgbClr val="C3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BFD"/>
                </a:solidFill>
              </a:defRPr>
            </a:pPr>
            <a: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324612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8FBFD"/>
                </a:solidFill>
              </a:defRPr>
            </a:pPr>
            <a:r>
              <a:t>Suspicious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43400"/>
            <a:ext cx="7872984" cy="1508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BFD"/>
                </a:solidFill>
                <a:latin typeface="Aptos"/>
              </a:defRPr>
            </a:pPr>
            <a:r>
              <a:t>• Keep devices and apps updated.</a:t>
            </a:r>
          </a:p>
          <a:p>
            <a:pPr>
              <a:spcAft>
                <a:spcPts val="1000"/>
              </a:spcAft>
              <a:defRPr sz="1600">
                <a:solidFill>
                  <a:srgbClr val="F8FBFD"/>
                </a:solidFill>
                <a:latin typeface="Aptos"/>
              </a:defRPr>
            </a:pPr>
            <a:r>
              <a:t>• Back up important school files.</a:t>
            </a:r>
          </a:p>
          <a:p>
            <a:pPr>
              <a:spcAft>
                <a:spcPts val="1000"/>
              </a:spcAft>
              <a:defRPr sz="1600">
                <a:solidFill>
                  <a:srgbClr val="F8FBFD"/>
                </a:solidFill>
                <a:latin typeface="Aptos"/>
              </a:defRPr>
            </a:pPr>
            <a:r>
              <a:t>• Log out on shared computers.</a:t>
            </a:r>
          </a:p>
          <a:p>
            <a:pPr>
              <a:spcAft>
                <a:spcPts val="1000"/>
              </a:spcAft>
              <a:defRPr sz="1600">
                <a:solidFill>
                  <a:srgbClr val="F8FBFD"/>
                </a:solidFill>
                <a:latin typeface="Aptos"/>
              </a:defRPr>
            </a:pPr>
            <a:r>
              <a:t>• Tell a trusted adult/teacher or platform when something feels unsafe.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8" fill="hold">
                <p:stCondLst>
                  <p:cond delay="0"/>
                </p:stCondLst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set>
                          <p:cBhvr>
                            <p:cTn id="10" dur="1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143000"/>
            <a:ext cx="5126316" cy="61555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reflection blurRad="6350" stA="50000" endA="300" endPos="55500" dist="1016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BFD"/>
                </a:solidFill>
              </a:defRPr>
            </a:pPr>
            <a:r>
              <a:rPr dirty="0"/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475" y="2607990"/>
            <a:ext cx="7133897" cy="206723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8FBFD"/>
                </a:solidFill>
                <a:latin typeface="Aptos"/>
              </a:defRPr>
            </a:pPr>
            <a:r>
              <a:rPr dirty="0"/>
              <a:t>• Think before you click, share or download.</a:t>
            </a:r>
          </a:p>
          <a:p>
            <a:pPr>
              <a:spcAft>
                <a:spcPts val="1000"/>
              </a:spcAft>
              <a:defRPr sz="1900">
                <a:solidFill>
                  <a:srgbClr val="F8FBFD"/>
                </a:solidFill>
                <a:latin typeface="Aptos"/>
              </a:defRPr>
            </a:pPr>
            <a:r>
              <a:rPr dirty="0"/>
              <a:t>• Protect passwords and use multi-factor authentication.</a:t>
            </a:r>
          </a:p>
          <a:p>
            <a:pPr>
              <a:spcAft>
                <a:spcPts val="1000"/>
              </a:spcAft>
              <a:defRPr sz="1900">
                <a:solidFill>
                  <a:srgbClr val="F8FBFD"/>
                </a:solidFill>
                <a:latin typeface="Aptos"/>
              </a:defRPr>
            </a:pPr>
            <a:r>
              <a:rPr dirty="0"/>
              <a:t>• Keep social media and personal information private.</a:t>
            </a:r>
          </a:p>
          <a:p>
            <a:pPr>
              <a:spcAft>
                <a:spcPts val="1000"/>
              </a:spcAft>
              <a:defRPr sz="1900">
                <a:solidFill>
                  <a:srgbClr val="F8FBFD"/>
                </a:solidFill>
                <a:latin typeface="Aptos"/>
              </a:defRPr>
            </a:pPr>
            <a:r>
              <a:rPr dirty="0"/>
              <a:t>• Verify suspicious messages through official channels.</a:t>
            </a:r>
          </a:p>
          <a:p>
            <a:pPr>
              <a:spcAft>
                <a:spcPts val="1000"/>
              </a:spcAft>
              <a:defRPr sz="1900">
                <a:solidFill>
                  <a:srgbClr val="F8FBFD"/>
                </a:solidFill>
                <a:latin typeface="Aptos"/>
              </a:defRPr>
            </a:pPr>
            <a:r>
              <a:rPr dirty="0"/>
              <a:t>• Speak up and report cyberbullying, scams or suspicious activity.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80660"/>
            <a:ext cx="6583680" cy="685800"/>
          </a:xfrm>
          <a:prstGeom prst="roundRect">
            <a:avLst/>
          </a:prstGeom>
          <a:solidFill>
            <a:srgbClr val="19344C"/>
          </a:solidFill>
          <a:ln>
            <a:solidFill>
              <a:srgbClr val="375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5349240"/>
            <a:ext cx="73152" cy="685800"/>
          </a:xfrm>
          <a:prstGeom prst="rect">
            <a:avLst/>
          </a:prstGeom>
          <a:solidFill>
            <a:srgbClr val="31B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513831"/>
            <a:ext cx="6172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BFD"/>
                </a:solidFill>
              </a:defRPr>
            </a:pPr>
            <a:r>
              <a:t>Final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58071"/>
            <a:ext cx="6172200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reflection blurRad="6350" stA="50000" endA="300" endPos="38500" dist="50800" dir="5400000" sy="-100000" algn="bl" rotWithShape="0"/>
          </a:effectLst>
          <a:scene3d>
            <a:camera prst="obliqueBottomLeft"/>
            <a:lightRig rig="threePt" dir="t"/>
          </a:scene3d>
          <a:sp3d>
            <a:bevelT prst="relaxedInset"/>
          </a:sp3d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E6ED"/>
                </a:solidFill>
              </a:defRPr>
            </a:pPr>
            <a:r>
              <a:rPr sz="1600" b="1" dirty="0"/>
              <a:t>Be curious online—but be careful.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B9C3"/>
                </a:solidFill>
              </a:defRPr>
            </a:pPr>
            <a:r>
              <a:t>10</a:t>
            </a:r>
          </a:p>
        </p:txBody>
      </p:sp>
      <p:pic>
        <p:nvPicPr>
          <p:cNvPr id="11" name="Graphic 10" descr="Internet with solid fill">
            <a:extLst>
              <a:ext uri="{FF2B5EF4-FFF2-40B4-BE49-F238E27FC236}">
                <a16:creationId xmlns:a16="http://schemas.microsoft.com/office/drawing/2014/main" id="{A9FF7CC0-504E-90F7-0AFA-F39945025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042" y="993576"/>
            <a:ext cx="914400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B9EF2-B48E-7F2F-8A37-E810BD326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34846"/>
            <a:ext cx="3140806" cy="78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737</Words>
  <Application>Microsoft Office PowerPoint</Application>
  <PresentationFormat>Widescreen</PresentationFormat>
  <Paragraphs>118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 pa</dc:creator>
  <cp:keywords/>
  <dc:description>generated using python-pptx</dc:description>
  <cp:lastModifiedBy>Princy Yadav</cp:lastModifiedBy>
  <cp:revision>3</cp:revision>
  <dcterms:created xsi:type="dcterms:W3CDTF">2013-01-27T09:14:16Z</dcterms:created>
  <dcterms:modified xsi:type="dcterms:W3CDTF">2026-09-29T10:56:21Z</dcterms:modified>
  <cp:category/>
</cp:coreProperties>
</file>